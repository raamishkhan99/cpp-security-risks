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2493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542224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86279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150459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4/15/2026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964583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847024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4/15/2026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9068623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338136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456519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93556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7430550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395551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58889354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843935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2032982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1BA835-12AC-4E8F-955A-EA3F4DE2791F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4303234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1BA835-12AC-4E8F-955A-EA3F4DE2791F}" type="datetime1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114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  <p:sldLayoutId id="2147483729" r:id="rId2"/>
    <p:sldLayoutId id="2147483730" r:id="rId3"/>
    <p:sldLayoutId id="2147483731" r:id="rId4"/>
    <p:sldLayoutId id="2147483732" r:id="rId5"/>
    <p:sldLayoutId id="2147483733" r:id="rId6"/>
    <p:sldLayoutId id="2147483734" r:id="rId7"/>
    <p:sldLayoutId id="2147483735" r:id="rId8"/>
    <p:sldLayoutId id="2147483736" r:id="rId9"/>
    <p:sldLayoutId id="2147483737" r:id="rId10"/>
    <p:sldLayoutId id="2147483738" r:id="rId11"/>
    <p:sldLayoutId id="2147483739" r:id="rId12"/>
    <p:sldLayoutId id="2147483740" r:id="rId13"/>
    <p:sldLayoutId id="2147483741" r:id="rId14"/>
    <p:sldLayoutId id="2147483742" r:id="rId15"/>
    <p:sldLayoutId id="2147483743" r:id="rId16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aamishkhan99/cpp-security-risks.git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E97613-C1B5-79CF-5D13-7F2692D9CF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908651"/>
            <a:ext cx="3620882" cy="3640345"/>
          </a:xfrm>
        </p:spPr>
        <p:txBody>
          <a:bodyPr anchor="t">
            <a:normAutofit/>
          </a:bodyPr>
          <a:lstStyle/>
          <a:p>
            <a:r>
              <a:rPr lang="en-US" sz="4000" dirty="0">
                <a:latin typeface="+mn-lt"/>
              </a:rPr>
              <a:t>3 SECURITY RISKS OF C++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318113-E34A-A7FE-797B-31070A0766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3400" y="4371033"/>
            <a:ext cx="3380437" cy="1416818"/>
          </a:xfrm>
        </p:spPr>
        <p:txBody>
          <a:bodyPr anchor="b">
            <a:normAutofit/>
          </a:bodyPr>
          <a:lstStyle/>
          <a:p>
            <a:r>
              <a:rPr lang="en-US" sz="2400" dirty="0"/>
              <a:t>Common Vulnerabilities and Prevention Techniques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B25E0C-79D4-88A5-B346-96DB0E9083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258" r="2" b="2"/>
          <a:stretch>
            <a:fillRect/>
          </a:stretch>
        </p:blipFill>
        <p:spPr>
          <a:xfrm>
            <a:off x="4876158" y="10"/>
            <a:ext cx="7315841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3628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38CB1-2B89-E870-DFC1-00204648DC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5271" y="552660"/>
            <a:ext cx="6903218" cy="1065126"/>
          </a:xfrm>
        </p:spPr>
        <p:txBody>
          <a:bodyPr/>
          <a:lstStyle/>
          <a:p>
            <a:r>
              <a:rPr lang="en-US" sz="4400" dirty="0"/>
              <a:t>Importance/How it’s  Used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249D5B-4702-BB49-C5B9-CA8B0C64A7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6584" y="1919235"/>
            <a:ext cx="6119446" cy="3117968"/>
          </a:xfrm>
        </p:spPr>
        <p:txBody>
          <a:bodyPr/>
          <a:lstStyle/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US" sz="2800" dirty="0">
                <a:solidFill>
                  <a:schemeClr val="bg1">
                    <a:lumMod val="65000"/>
                  </a:schemeClr>
                </a:solidFill>
              </a:rPr>
              <a:t>Direct memory access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US" sz="2800" dirty="0">
                <a:solidFill>
                  <a:schemeClr val="bg1">
                    <a:lumMod val="65000"/>
                  </a:schemeClr>
                </a:solidFill>
              </a:rPr>
              <a:t>Widely used in critical systems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US" sz="2800" dirty="0">
                <a:solidFill>
                  <a:schemeClr val="bg1">
                    <a:lumMod val="65000"/>
                  </a:schemeClr>
                </a:solidFill>
              </a:rPr>
              <a:t>Secure software development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r>
              <a:rPr lang="en-US" sz="2800" dirty="0">
                <a:solidFill>
                  <a:schemeClr val="bg1">
                    <a:lumMod val="65000"/>
                  </a:schemeClr>
                </a:solidFill>
              </a:rPr>
              <a:t>Security testing</a:t>
            </a:r>
          </a:p>
          <a:p>
            <a:pPr marL="285750" indent="-285750" algn="l">
              <a:buFont typeface="Wingdings" panose="05000000000000000000" pitchFamily="2" charset="2"/>
              <a:buChar char="Ø"/>
            </a:pPr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169986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6D73B-9762-8A0A-6415-590D978E05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1- Buffer Overflow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EBE16-9064-C68F-5DF5-505D55BBCE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1587833"/>
            <a:ext cx="8228973" cy="3880773"/>
          </a:xfrm>
        </p:spPr>
        <p:txBody>
          <a:bodyPr>
            <a:normAutofit lnSpcReduction="10000"/>
          </a:bodyPr>
          <a:lstStyle/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</a:rPr>
              <a:t>One of the most common security concerns with C++</a:t>
            </a:r>
          </a:p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</a:rPr>
              <a:t>Ranked as </a:t>
            </a:r>
            <a:r>
              <a:rPr lang="en-US" sz="3000" dirty="0">
                <a:solidFill>
                  <a:schemeClr val="bg1">
                    <a:lumMod val="65000"/>
                  </a:schemeClr>
                </a:solidFill>
              </a:rPr>
              <a:t>the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</a:rPr>
              <a:t> most dangerous software weakness </a:t>
            </a:r>
          </a:p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</a:rPr>
              <a:t>Caused by not having built-in boundary check features in C++</a:t>
            </a:r>
          </a:p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</a:rPr>
              <a:t>Writing outside our allocated memory can cause program crashes</a:t>
            </a:r>
          </a:p>
        </p:txBody>
      </p:sp>
    </p:spTree>
    <p:extLst>
      <p:ext uri="{BB962C8B-B14F-4D97-AF65-F5344CB8AC3E}">
        <p14:creationId xmlns:p14="http://schemas.microsoft.com/office/powerpoint/2010/main" val="650528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609316A9-990D-4EC3-A671-70EE5C1493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B0C6109-9159-49CA-AD7A-F9035539DB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686F14F5-308C-4EB6-87AB-05DE9501B1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BA032363-A188-47C5-9D59-9B788809DC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5">
              <a:extLst>
                <a:ext uri="{FF2B5EF4-FFF2-40B4-BE49-F238E27FC236}">
                  <a16:creationId xmlns:a16="http://schemas.microsoft.com/office/drawing/2014/main" id="{2C4077DF-6BB9-4069-AD28-6B1664EBB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1D2B8B50-3419-41ED-9A9F-3CF9EEBBD3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7">
              <a:extLst>
                <a:ext uri="{FF2B5EF4-FFF2-40B4-BE49-F238E27FC236}">
                  <a16:creationId xmlns:a16="http://schemas.microsoft.com/office/drawing/2014/main" id="{5C640498-2E73-4FA2-BEB6-C3596A458C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8">
              <a:extLst>
                <a:ext uri="{FF2B5EF4-FFF2-40B4-BE49-F238E27FC236}">
                  <a16:creationId xmlns:a16="http://schemas.microsoft.com/office/drawing/2014/main" id="{3240EEFC-4112-4C39-A816-C815774F6D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9">
              <a:extLst>
                <a:ext uri="{FF2B5EF4-FFF2-40B4-BE49-F238E27FC236}">
                  <a16:creationId xmlns:a16="http://schemas.microsoft.com/office/drawing/2014/main" id="{ADF362B0-03EA-4800-9FAA-9F128587E4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Isosceles Triangle 29">
              <a:extLst>
                <a:ext uri="{FF2B5EF4-FFF2-40B4-BE49-F238E27FC236}">
                  <a16:creationId xmlns:a16="http://schemas.microsoft.com/office/drawing/2014/main" id="{0BA84559-2F4C-4795-9246-4C563F942D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FA77A1AA-CA47-4A91-A0A1-0A8CE31A98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03E8462A-FEBA-4848-81CC-3F8DA3E47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2109F83F-40FE-4DB3-84CC-09FB3340D0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DE492D7-C3C3-48FF-80C8-37021EA026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Rectangle 23">
              <a:extLst>
                <a:ext uri="{FF2B5EF4-FFF2-40B4-BE49-F238E27FC236}">
                  <a16:creationId xmlns:a16="http://schemas.microsoft.com/office/drawing/2014/main" id="{0B30FF97-2E9A-490A-AED2-90BA2E0EC1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8" name="Rectangle 25">
              <a:extLst>
                <a:ext uri="{FF2B5EF4-FFF2-40B4-BE49-F238E27FC236}">
                  <a16:creationId xmlns:a16="http://schemas.microsoft.com/office/drawing/2014/main" id="{B6D53C7D-A312-47B6-A66A-230A19CFA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9" name="Isosceles Triangle 38">
              <a:extLst>
                <a:ext uri="{FF2B5EF4-FFF2-40B4-BE49-F238E27FC236}">
                  <a16:creationId xmlns:a16="http://schemas.microsoft.com/office/drawing/2014/main" id="{9329D58C-0D2E-4A2B-AD6A-9CEE506784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40" name="Rectangle 27">
              <a:extLst>
                <a:ext uri="{FF2B5EF4-FFF2-40B4-BE49-F238E27FC236}">
                  <a16:creationId xmlns:a16="http://schemas.microsoft.com/office/drawing/2014/main" id="{9D446EDE-C690-4461-8BF2-7634808FC8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41" name="Rectangle 28">
              <a:extLst>
                <a:ext uri="{FF2B5EF4-FFF2-40B4-BE49-F238E27FC236}">
                  <a16:creationId xmlns:a16="http://schemas.microsoft.com/office/drawing/2014/main" id="{323F3D34-6531-4AD7-A8C6-195A090281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42" name="Rectangle 29">
              <a:extLst>
                <a:ext uri="{FF2B5EF4-FFF2-40B4-BE49-F238E27FC236}">
                  <a16:creationId xmlns:a16="http://schemas.microsoft.com/office/drawing/2014/main" id="{B9B0AE3F-2350-435F-A9B0-C310BF8763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43" name="Isosceles Triangle 42">
              <a:extLst>
                <a:ext uri="{FF2B5EF4-FFF2-40B4-BE49-F238E27FC236}">
                  <a16:creationId xmlns:a16="http://schemas.microsoft.com/office/drawing/2014/main" id="{4EFA655C-9E50-4C14-A89E-AD7B648E4E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44" name="Isosceles Triangle 43">
              <a:extLst>
                <a:ext uri="{FF2B5EF4-FFF2-40B4-BE49-F238E27FC236}">
                  <a16:creationId xmlns:a16="http://schemas.microsoft.com/office/drawing/2014/main" id="{3E843863-7D25-4C01-9A17-E817CB6D99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7941F9B1-B01B-4A84-89D9-B169AEB4E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Placeholder 15">
            <a:extLst>
              <a:ext uri="{FF2B5EF4-FFF2-40B4-BE49-F238E27FC236}">
                <a16:creationId xmlns:a16="http://schemas.microsoft.com/office/drawing/2014/main" id="{FB90DB36-69EA-7F73-119B-3C323271AF16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4364" r="4364"/>
          <a:stretch/>
        </p:blipFill>
        <p:spPr>
          <a:xfrm>
            <a:off x="1126309" y="1207960"/>
            <a:ext cx="9941259" cy="4438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9044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656EC43-3D5B-9EBD-ACDE-FCFA5CA49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/>
              <a:t>Vulnerability</a:t>
            </a:r>
            <a:r>
              <a:rPr lang="en-US" dirty="0"/>
              <a:t>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E291339-4D3B-5C62-8282-1C2129512C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6055" y="2150651"/>
            <a:ext cx="8596668" cy="1074224"/>
          </a:xfrm>
        </p:spPr>
        <p:txBody>
          <a:bodyPr>
            <a:normAutofit fontScale="92500" lnSpcReduction="20000"/>
          </a:bodyPr>
          <a:lstStyle/>
          <a:p>
            <a:r>
              <a:rPr lang="en-US" sz="2800" dirty="0">
                <a:solidFill>
                  <a:schemeClr val="bg1">
                    <a:lumMod val="65000"/>
                  </a:schemeClr>
                </a:solidFill>
              </a:rPr>
              <a:t>Vulnerable to a buffer overflow attack if the user enters a string longer than the length of the </a:t>
            </a:r>
            <a:r>
              <a:rPr lang="en-US" sz="2800" dirty="0" err="1">
                <a:solidFill>
                  <a:schemeClr val="bg1">
                    <a:lumMod val="65000"/>
                  </a:schemeClr>
                </a:solidFill>
              </a:rPr>
              <a:t>user_input</a:t>
            </a:r>
            <a:r>
              <a:rPr lang="en-US" sz="2800" dirty="0">
                <a:solidFill>
                  <a:schemeClr val="bg1">
                    <a:lumMod val="65000"/>
                  </a:schemeClr>
                </a:solidFill>
              </a:rPr>
              <a:t> array</a:t>
            </a:r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. </a:t>
            </a:r>
          </a:p>
        </p:txBody>
      </p:sp>
    </p:spTree>
    <p:extLst>
      <p:ext uri="{BB962C8B-B14F-4D97-AF65-F5344CB8AC3E}">
        <p14:creationId xmlns:p14="http://schemas.microsoft.com/office/powerpoint/2010/main" val="5827627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E4317-1410-E4AA-A4CA-C184DFEE3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/>
              <a:t>Prevention</a:t>
            </a:r>
            <a:r>
              <a:rPr lang="en-US" dirty="0"/>
              <a:t>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1C21F7-1681-633A-05FC-1DE2B29D02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5386" y="1607882"/>
            <a:ext cx="8596668" cy="3880773"/>
          </a:xfrm>
        </p:spPr>
        <p:txBody>
          <a:bodyPr>
            <a:noAutofit/>
          </a:bodyPr>
          <a:lstStyle/>
          <a:p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Use stack canaries to secure data</a:t>
            </a:r>
          </a:p>
          <a:p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Data Execution Prevention (DEP)</a:t>
            </a:r>
          </a:p>
          <a:p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Good coding practices: </a:t>
            </a:r>
          </a:p>
          <a:p>
            <a:pPr marL="857250" lvl="1" indent="-400050">
              <a:buFont typeface="+mj-lt"/>
              <a:buAutoNum type="romanLcPeriod"/>
            </a:pPr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Bound Checking</a:t>
            </a:r>
          </a:p>
          <a:p>
            <a:pPr marL="857250" lvl="1" indent="-400050">
              <a:buFont typeface="+mj-lt"/>
              <a:buAutoNum type="romanLcPeriod"/>
            </a:pPr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Avoid standard library functions like </a:t>
            </a:r>
            <a:r>
              <a:rPr lang="en-US" sz="2600" dirty="0" err="1">
                <a:solidFill>
                  <a:schemeClr val="bg1">
                    <a:lumMod val="65000"/>
                  </a:schemeClr>
                </a:solidFill>
              </a:rPr>
              <a:t>strcpy</a:t>
            </a:r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en-US" sz="2600" dirty="0" err="1">
                <a:solidFill>
                  <a:schemeClr val="bg1">
                    <a:lumMod val="65000"/>
                  </a:schemeClr>
                </a:solidFill>
              </a:rPr>
              <a:t>scanf</a:t>
            </a:r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, </a:t>
            </a:r>
            <a:r>
              <a:rPr lang="en-US" sz="2600" dirty="0" err="1">
                <a:solidFill>
                  <a:schemeClr val="bg1">
                    <a:lumMod val="65000"/>
                  </a:schemeClr>
                </a:solidFill>
              </a:rPr>
              <a:t>printf</a:t>
            </a:r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, and get</a:t>
            </a:r>
          </a:p>
          <a:p>
            <a:pPr marL="857250" lvl="1" indent="-400050">
              <a:buFont typeface="+mj-lt"/>
              <a:buAutoNum type="romanLcPeriod"/>
            </a:pPr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Replace them with equivalent secure functions, like </a:t>
            </a:r>
            <a:r>
              <a:rPr lang="en-US" sz="2600" dirty="0" err="1">
                <a:solidFill>
                  <a:schemeClr val="bg1">
                    <a:lumMod val="65000"/>
                  </a:schemeClr>
                </a:solidFill>
              </a:rPr>
              <a:t>fgets</a:t>
            </a:r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.</a:t>
            </a:r>
          </a:p>
          <a:p>
            <a:pPr marL="0" indent="0">
              <a:buNone/>
            </a:pPr>
            <a:r>
              <a:rPr lang="en-US" sz="2600" dirty="0"/>
              <a:t> </a:t>
            </a:r>
          </a:p>
          <a:p>
            <a:pPr>
              <a:buFont typeface="Wingdings" panose="05000000000000000000" pitchFamily="2" charset="2"/>
              <a:buChar char="Ø"/>
            </a:pP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13661521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C7F55-19DD-946E-4E55-8FBDAACAC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525" y="390939"/>
            <a:ext cx="8596668" cy="1320800"/>
          </a:xfrm>
        </p:spPr>
        <p:txBody>
          <a:bodyPr>
            <a:normAutofit fontScale="90000"/>
          </a:bodyPr>
          <a:lstStyle/>
          <a:p>
            <a:r>
              <a:rPr lang="en-US" sz="4400" dirty="0"/>
              <a:t>2-  Integer Overflow and Underflow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449E9-7A8D-4A88-CCCD-296FA2D14C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787" y="1421296"/>
            <a:ext cx="8596668" cy="3854753"/>
          </a:xfrm>
        </p:spPr>
        <p:txBody>
          <a:bodyPr>
            <a:normAutofit/>
          </a:bodyPr>
          <a:lstStyle/>
          <a:p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Integer overflow is when the value we’re trying to store in an integer variable exceeds the maximum value an integer can hold</a:t>
            </a:r>
          </a:p>
          <a:p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Integer underflow occurs when this value is less than the minimum value an integer can hold</a:t>
            </a:r>
          </a:p>
          <a:p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 12th most dangerous software weakness</a:t>
            </a:r>
          </a:p>
          <a:p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 Integer overflow and underflow can lead to a buffer overflow vulnerability</a:t>
            </a:r>
          </a:p>
        </p:txBody>
      </p:sp>
    </p:spTree>
    <p:extLst>
      <p:ext uri="{BB962C8B-B14F-4D97-AF65-F5344CB8AC3E}">
        <p14:creationId xmlns:p14="http://schemas.microsoft.com/office/powerpoint/2010/main" val="15019602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3E8462A-FEBA-4848-81CC-3F8DA3E47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109F83F-40FE-4DB3-84CC-09FB3340D0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DE492D7-C3C3-48FF-80C8-37021EA026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23">
              <a:extLst>
                <a:ext uri="{FF2B5EF4-FFF2-40B4-BE49-F238E27FC236}">
                  <a16:creationId xmlns:a16="http://schemas.microsoft.com/office/drawing/2014/main" id="{0B30FF97-2E9A-490A-AED2-90BA2E0EC1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Rectangle 25">
              <a:extLst>
                <a:ext uri="{FF2B5EF4-FFF2-40B4-BE49-F238E27FC236}">
                  <a16:creationId xmlns:a16="http://schemas.microsoft.com/office/drawing/2014/main" id="{B6D53C7D-A312-47B6-A66A-230A19CFA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9329D58C-0D2E-4A2B-AD6A-9CEE506784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Rectangle 27">
              <a:extLst>
                <a:ext uri="{FF2B5EF4-FFF2-40B4-BE49-F238E27FC236}">
                  <a16:creationId xmlns:a16="http://schemas.microsoft.com/office/drawing/2014/main" id="{9D446EDE-C690-4461-8BF2-7634808FC8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ectangle 28">
              <a:extLst>
                <a:ext uri="{FF2B5EF4-FFF2-40B4-BE49-F238E27FC236}">
                  <a16:creationId xmlns:a16="http://schemas.microsoft.com/office/drawing/2014/main" id="{323F3D34-6531-4AD7-A8C6-195A090281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Rectangle 29">
              <a:extLst>
                <a:ext uri="{FF2B5EF4-FFF2-40B4-BE49-F238E27FC236}">
                  <a16:creationId xmlns:a16="http://schemas.microsoft.com/office/drawing/2014/main" id="{B9B0AE3F-2350-435F-A9B0-C310BF8763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4EFA655C-9E50-4C14-A89E-AD7B648E4E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3E843863-7D25-4C01-9A17-E817CB6D99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7941F9B1-B01B-4A84-89D9-B169AEB4E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6A46410-6D3D-4CB4-AB42-CCE136F78F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6309" y="1669774"/>
            <a:ext cx="9941259" cy="3707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731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9AB5E9-6D00-212C-EE6B-A69D23338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Vulnerability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D60C6-9899-3A6A-332B-E97110B4FA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6177" y="1693450"/>
            <a:ext cx="8596668" cy="3880773"/>
          </a:xfrm>
        </p:spPr>
        <p:txBody>
          <a:bodyPr>
            <a:normAutofit/>
          </a:bodyPr>
          <a:lstStyle/>
          <a:p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This code represents an integer overflow vulnerability</a:t>
            </a:r>
          </a:p>
          <a:p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 While the code checks for a zero value, it’s possible to have a zero-memory allocation if the input </a:t>
            </a:r>
            <a:r>
              <a:rPr lang="en-US" sz="2600" dirty="0" err="1">
                <a:solidFill>
                  <a:schemeClr val="bg1">
                    <a:lumMod val="65000"/>
                  </a:schemeClr>
                </a:solidFill>
              </a:rPr>
              <a:t>nresp</a:t>
            </a:r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 equals 1073741824</a:t>
            </a:r>
          </a:p>
          <a:p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Multiplying this value with four (size of char pointer) causes the variable to overflow, and </a:t>
            </a:r>
            <a:r>
              <a:rPr lang="en-US" sz="2600" dirty="0" err="1">
                <a:solidFill>
                  <a:schemeClr val="bg1">
                    <a:lumMod val="65000"/>
                  </a:schemeClr>
                </a:solidFill>
              </a:rPr>
              <a:t>xmalloc</a:t>
            </a:r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(</a:t>
            </a:r>
            <a:r>
              <a:rPr lang="en-US" sz="2600" dirty="0" err="1">
                <a:solidFill>
                  <a:schemeClr val="bg1">
                    <a:lumMod val="65000"/>
                  </a:schemeClr>
                </a:solidFill>
              </a:rPr>
              <a:t>nresp</a:t>
            </a:r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*</a:t>
            </a:r>
            <a:r>
              <a:rPr lang="en-US" sz="2600" dirty="0" err="1">
                <a:solidFill>
                  <a:schemeClr val="bg1">
                    <a:lumMod val="65000"/>
                  </a:schemeClr>
                </a:solidFill>
              </a:rPr>
              <a:t>sizeof</a:t>
            </a:r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(char*)) allocates a buffer of size 0</a:t>
            </a:r>
          </a:p>
        </p:txBody>
      </p:sp>
    </p:spTree>
    <p:extLst>
      <p:ext uri="{BB962C8B-B14F-4D97-AF65-F5344CB8AC3E}">
        <p14:creationId xmlns:p14="http://schemas.microsoft.com/office/powerpoint/2010/main" val="40447805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080F5-6DBE-EA65-19E8-F72852476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Prevention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808C4A-8D24-EE4F-614C-B99CAAAB02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 Range Checking to protect against overflow or wrapping of the variable value</a:t>
            </a:r>
          </a:p>
        </p:txBody>
      </p:sp>
    </p:spTree>
    <p:extLst>
      <p:ext uri="{BB962C8B-B14F-4D97-AF65-F5344CB8AC3E}">
        <p14:creationId xmlns:p14="http://schemas.microsoft.com/office/powerpoint/2010/main" val="19576179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A8763-499C-3037-2BEB-592323C592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525" y="352772"/>
            <a:ext cx="8596668" cy="1320800"/>
          </a:xfrm>
        </p:spPr>
        <p:txBody>
          <a:bodyPr>
            <a:normAutofit/>
          </a:bodyPr>
          <a:lstStyle/>
          <a:p>
            <a:r>
              <a:rPr lang="en-US" sz="4400" dirty="0"/>
              <a:t>3- Pointer Initialization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BC316-31AA-008D-C100-E120AEAB9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7824" y="1433322"/>
            <a:ext cx="8596668" cy="4190730"/>
          </a:xfrm>
        </p:spPr>
        <p:txBody>
          <a:bodyPr>
            <a:noAutofit/>
          </a:bodyPr>
          <a:lstStyle/>
          <a:p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We can expose a lot of data using a pointer that’s not initialized as a pointer to a memory location or function</a:t>
            </a:r>
          </a:p>
          <a:p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If the uninitialized pointer points to a memory location:</a:t>
            </a:r>
          </a:p>
          <a:p>
            <a:pPr marL="857250" lvl="1" indent="-400050">
              <a:buFont typeface="+mj-lt"/>
              <a:buAutoNum type="romanLcPeriod"/>
            </a:pPr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Cause the program to read or write to an unexpected memory location</a:t>
            </a:r>
          </a:p>
          <a:p>
            <a:pPr marL="857250" lvl="1" indent="-400050">
              <a:buFont typeface="+mj-lt"/>
              <a:buAutoNum type="romanLcPeriod"/>
            </a:pPr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If it points to a function, it can cause the unintentional execution of an arbitrary function </a:t>
            </a:r>
          </a:p>
        </p:txBody>
      </p:sp>
    </p:spTree>
    <p:extLst>
      <p:ext uri="{BB962C8B-B14F-4D97-AF65-F5344CB8AC3E}">
        <p14:creationId xmlns:p14="http://schemas.microsoft.com/office/powerpoint/2010/main" val="4329764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3E8462A-FEBA-4848-81CC-3F8DA3E47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109F83F-40FE-4DB3-84CC-09FB3340D0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DE492D7-C3C3-48FF-80C8-37021EA026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tangle 23">
              <a:extLst>
                <a:ext uri="{FF2B5EF4-FFF2-40B4-BE49-F238E27FC236}">
                  <a16:creationId xmlns:a16="http://schemas.microsoft.com/office/drawing/2014/main" id="{0B30FF97-2E9A-490A-AED2-90BA2E0EC1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Rectangle 25">
              <a:extLst>
                <a:ext uri="{FF2B5EF4-FFF2-40B4-BE49-F238E27FC236}">
                  <a16:creationId xmlns:a16="http://schemas.microsoft.com/office/drawing/2014/main" id="{B6D53C7D-A312-47B6-A66A-230A19CFAC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9329D58C-0D2E-4A2B-AD6A-9CEE506784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Rectangle 27">
              <a:extLst>
                <a:ext uri="{FF2B5EF4-FFF2-40B4-BE49-F238E27FC236}">
                  <a16:creationId xmlns:a16="http://schemas.microsoft.com/office/drawing/2014/main" id="{9D446EDE-C690-4461-8BF2-7634808FC8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Rectangle 28">
              <a:extLst>
                <a:ext uri="{FF2B5EF4-FFF2-40B4-BE49-F238E27FC236}">
                  <a16:creationId xmlns:a16="http://schemas.microsoft.com/office/drawing/2014/main" id="{323F3D34-6531-4AD7-A8C6-195A090281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Rectangle 29">
              <a:extLst>
                <a:ext uri="{FF2B5EF4-FFF2-40B4-BE49-F238E27FC236}">
                  <a16:creationId xmlns:a16="http://schemas.microsoft.com/office/drawing/2014/main" id="{B9B0AE3F-2350-435F-A9B0-C310BF8763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4EFA655C-9E50-4C14-A89E-AD7B648E4E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3E843863-7D25-4C01-9A17-E817CB6D99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7941F9B1-B01B-4A84-89D9-B169AEB4E4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 w="9525">
            <a:noFill/>
          </a:ln>
          <a:effectLst>
            <a:outerShdw blurRad="63500" dist="17780" dir="5400000" algn="t" rotWithShape="0">
              <a:prstClr val="black">
                <a:alpha val="4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B0B6BE-87C4-B0D8-838C-0DF736B26C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3846" y="1820356"/>
            <a:ext cx="9941259" cy="2841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5546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4D8EB3-EBB6-7CD2-EE3F-B4EFC0828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Vulnerability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73CDB-4CCE-CCDE-D0F7-13C188B172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6422" y="1535506"/>
            <a:ext cx="8596668" cy="4118042"/>
          </a:xfrm>
        </p:spPr>
        <p:txBody>
          <a:bodyPr>
            <a:normAutofit lnSpcReduction="10000"/>
          </a:bodyPr>
          <a:lstStyle/>
          <a:p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As we can see, the pointer is left uninitialized, which means that a random value is assigned to it, and the check will pass, as it may be a non-null value</a:t>
            </a:r>
          </a:p>
          <a:p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Pointers are also vulnerable to null pointer dereferencing attacks, which can lead to program reliability issues</a:t>
            </a:r>
          </a:p>
          <a:p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An attacker can take advantage of this by enforcing a null pointer dereference:</a:t>
            </a:r>
          </a:p>
          <a:p>
            <a:pPr marL="971550" lvl="1" indent="-571500">
              <a:buFont typeface="+mj-lt"/>
              <a:buAutoNum type="romanLcPeriod"/>
            </a:pPr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Can bypass some security checks or reveal debugging information</a:t>
            </a:r>
            <a:endParaRPr lang="en-US" sz="2400" dirty="0">
              <a:solidFill>
                <a:schemeClr val="bg1">
                  <a:lumMod val="65000"/>
                </a:schemeClr>
              </a:solidFill>
            </a:endParaRPr>
          </a:p>
          <a:p>
            <a:pPr marL="971550" lvl="1" indent="-571500">
              <a:buFont typeface="+mj-lt"/>
              <a:buAutoNum type="romanLcPeriod"/>
            </a:pPr>
            <a:endParaRPr lang="en-US" sz="2400" dirty="0">
              <a:solidFill>
                <a:schemeClr val="bg1">
                  <a:lumMod val="65000"/>
                </a:schemeClr>
              </a:solidFill>
            </a:endParaRPr>
          </a:p>
          <a:p>
            <a:endParaRPr lang="en-US" sz="2600" dirty="0">
              <a:solidFill>
                <a:schemeClr val="bg1">
                  <a:lumMod val="65000"/>
                </a:schemeClr>
              </a:solidFill>
            </a:endParaRPr>
          </a:p>
          <a:p>
            <a:endParaRPr lang="en-US" sz="2600" dirty="0">
              <a:solidFill>
                <a:schemeClr val="bg1">
                  <a:lumMod val="65000"/>
                </a:schemeClr>
              </a:solidFill>
            </a:endParaRPr>
          </a:p>
          <a:p>
            <a:pPr marL="0" indent="0">
              <a:buNone/>
            </a:pPr>
            <a:endParaRPr lang="en-US" sz="2600" dirty="0">
              <a:solidFill>
                <a:schemeClr val="bg1">
                  <a:lumMod val="65000"/>
                </a:schemeClr>
              </a:solidFill>
            </a:endParaRPr>
          </a:p>
          <a:p>
            <a:endParaRPr lang="en-US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984564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7D6F7-1E96-8856-C723-B55E1B109D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038" y="501859"/>
            <a:ext cx="8596668" cy="1320800"/>
          </a:xfrm>
        </p:spPr>
        <p:txBody>
          <a:bodyPr>
            <a:normAutofit/>
          </a:bodyPr>
          <a:lstStyle/>
          <a:p>
            <a:r>
              <a:rPr lang="en-US" sz="4400" dirty="0"/>
              <a:t>Prevention Techniques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A56EA4-0D4B-2CA0-2532-66C9D92C1B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312" y="2016040"/>
            <a:ext cx="8596668" cy="1681317"/>
          </a:xfrm>
        </p:spPr>
        <p:txBody>
          <a:bodyPr>
            <a:normAutofit/>
          </a:bodyPr>
          <a:lstStyle/>
          <a:p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Avoid using a Pointer and use references instead</a:t>
            </a:r>
          </a:p>
          <a:p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Use smart pointers instead of raw pointers, if you really have to</a:t>
            </a:r>
          </a:p>
        </p:txBody>
      </p:sp>
    </p:spTree>
    <p:extLst>
      <p:ext uri="{BB962C8B-B14F-4D97-AF65-F5344CB8AC3E}">
        <p14:creationId xmlns:p14="http://schemas.microsoft.com/office/powerpoint/2010/main" val="22692974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0A8EB-435D-7C73-D835-7188D8EAB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Key 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22783E-8264-7864-2767-3A9923CAF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5489" y="1816460"/>
            <a:ext cx="8596668" cy="3880773"/>
          </a:xfrm>
        </p:spPr>
        <p:txBody>
          <a:bodyPr>
            <a:normAutofit/>
          </a:bodyPr>
          <a:lstStyle/>
          <a:p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 C++ has a variety of vulnerabilities </a:t>
            </a:r>
          </a:p>
          <a:p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Developers must be aware of when writing code</a:t>
            </a:r>
          </a:p>
          <a:p>
            <a:r>
              <a:rPr lang="en-US" sz="2600" dirty="0">
                <a:solidFill>
                  <a:schemeClr val="bg1">
                    <a:lumMod val="65000"/>
                  </a:schemeClr>
                </a:solidFill>
              </a:rPr>
              <a:t>As developers, it’s our responsibility to implement security techniques</a:t>
            </a:r>
          </a:p>
        </p:txBody>
      </p:sp>
    </p:spTree>
    <p:extLst>
      <p:ext uri="{BB962C8B-B14F-4D97-AF65-F5344CB8AC3E}">
        <p14:creationId xmlns:p14="http://schemas.microsoft.com/office/powerpoint/2010/main" val="3545629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D0DD4-41F0-2624-1755-EF1F567363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Check It 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ED024E-59A2-A4EF-66D6-FDEA8CE33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360" y="1832598"/>
            <a:ext cx="8596668" cy="3880773"/>
          </a:xfrm>
          <a:noFill/>
        </p:spPr>
        <p:txBody>
          <a:bodyPr>
            <a:normAutofit/>
          </a:bodyPr>
          <a:lstStyle/>
          <a:p>
            <a:r>
              <a:rPr lang="en-US" sz="2600" dirty="0">
                <a:solidFill>
                  <a:schemeClr val="bg1">
                    <a:lumMod val="65000"/>
                  </a:schemeClr>
                </a:solidFill>
                <a:hlinkClick r:id="rId2"/>
              </a:rPr>
              <a:t>https://github.com/raamishkhan99/cpp-security-risks.git</a:t>
            </a:r>
            <a:endParaRPr lang="en-US" sz="2600" dirty="0">
              <a:solidFill>
                <a:schemeClr val="bg1">
                  <a:lumMod val="65000"/>
                </a:schemeClr>
              </a:solidFill>
            </a:endParaRPr>
          </a:p>
          <a:p>
            <a:endParaRPr lang="en-US" sz="26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6198253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21778</TotalTime>
  <Words>481</Words>
  <Application>Microsoft Office PowerPoint</Application>
  <PresentationFormat>Widescreen</PresentationFormat>
  <Paragraphs>55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Trebuchet MS</vt:lpstr>
      <vt:lpstr>Wingdings</vt:lpstr>
      <vt:lpstr>Wingdings 3</vt:lpstr>
      <vt:lpstr>Facet</vt:lpstr>
      <vt:lpstr>3 SECURITY RISKS OF C++</vt:lpstr>
      <vt:lpstr>Importance/How it’s  Used</vt:lpstr>
      <vt:lpstr>1- Buffer Overflow</vt:lpstr>
      <vt:lpstr>PowerPoint Presentation</vt:lpstr>
      <vt:lpstr>Vulnerability </vt:lpstr>
      <vt:lpstr>Prevention Techniques</vt:lpstr>
      <vt:lpstr>2-  Integer Overflow and Underflow</vt:lpstr>
      <vt:lpstr>PowerPoint Presentation</vt:lpstr>
      <vt:lpstr>Vulnerability</vt:lpstr>
      <vt:lpstr>Prevention Techniques</vt:lpstr>
      <vt:lpstr>3- Pointer Initialization</vt:lpstr>
      <vt:lpstr>PowerPoint Presentation</vt:lpstr>
      <vt:lpstr>Vulnerability</vt:lpstr>
      <vt:lpstr>Prevention Techniques</vt:lpstr>
      <vt:lpstr>Key Notes</vt:lpstr>
      <vt:lpstr>Check It Out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Raamish Khan</dc:creator>
  <cp:lastModifiedBy>Raamish Khan</cp:lastModifiedBy>
  <cp:revision>23</cp:revision>
  <dcterms:created xsi:type="dcterms:W3CDTF">2026-03-12T20:52:48Z</dcterms:created>
  <dcterms:modified xsi:type="dcterms:W3CDTF">2026-04-16T04:31:39Z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54ab11a-fc70-4981-8bc8-76001c0acfb8_Enabled">
    <vt:lpwstr>true</vt:lpwstr>
  </property>
  <property fmtid="{D5CDD505-2E9C-101B-9397-08002B2CF9AE}" pid="3" name="MSIP_Label_254ab11a-fc70-4981-8bc8-76001c0acfb8_SetDate">
    <vt:lpwstr>2026-03-12T21:59:04Z</vt:lpwstr>
  </property>
  <property fmtid="{D5CDD505-2E9C-101B-9397-08002B2CF9AE}" pid="4" name="MSIP_Label_254ab11a-fc70-4981-8bc8-76001c0acfb8_Method">
    <vt:lpwstr>Standard</vt:lpwstr>
  </property>
  <property fmtid="{D5CDD505-2E9C-101B-9397-08002B2CF9AE}" pid="5" name="MSIP_Label_254ab11a-fc70-4981-8bc8-76001c0acfb8_Name">
    <vt:lpwstr>General</vt:lpwstr>
  </property>
  <property fmtid="{D5CDD505-2E9C-101B-9397-08002B2CF9AE}" pid="6" name="MSIP_Label_254ab11a-fc70-4981-8bc8-76001c0acfb8_SiteId">
    <vt:lpwstr>eb5d9dc4-93c6-4557-8c23-90ef7fa05b96</vt:lpwstr>
  </property>
  <property fmtid="{D5CDD505-2E9C-101B-9397-08002B2CF9AE}" pid="7" name="MSIP_Label_254ab11a-fc70-4981-8bc8-76001c0acfb8_ActionId">
    <vt:lpwstr>0fa805f9-92fa-4828-8274-c2dc3ed5f427</vt:lpwstr>
  </property>
  <property fmtid="{D5CDD505-2E9C-101B-9397-08002B2CF9AE}" pid="8" name="MSIP_Label_254ab11a-fc70-4981-8bc8-76001c0acfb8_ContentBits">
    <vt:lpwstr>0</vt:lpwstr>
  </property>
  <property fmtid="{D5CDD505-2E9C-101B-9397-08002B2CF9AE}" pid="9" name="MSIP_Label_254ab11a-fc70-4981-8bc8-76001c0acfb8_Tag">
    <vt:lpwstr>10, 3, 0, 1</vt:lpwstr>
  </property>
</Properties>
</file>