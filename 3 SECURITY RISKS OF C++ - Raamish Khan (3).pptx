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49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222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62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04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645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470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686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381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565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35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3055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955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893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439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329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032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1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amishkhan99/cpp-security-risks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7613-C1B5-79CF-5D13-7F2692D9C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en-US" sz="4000" dirty="0">
                <a:latin typeface="+mn-lt"/>
              </a:rPr>
              <a:t>3 SECURITY RISKS OF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18113-E34A-A7FE-797B-31070A07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371033"/>
            <a:ext cx="3380437" cy="1416818"/>
          </a:xfrm>
        </p:spPr>
        <p:txBody>
          <a:bodyPr anchor="b">
            <a:normAutofit/>
          </a:bodyPr>
          <a:lstStyle/>
          <a:p>
            <a:r>
              <a:rPr lang="en-US" sz="2400" dirty="0"/>
              <a:t>Common Vulnerabilities and Prevention Techniques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B25E0C-79D4-88A5-B346-96DB0E90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58" r="2" b="2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62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8CB1-2B89-E870-DFC1-00204648D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271" y="552660"/>
            <a:ext cx="6903218" cy="1065126"/>
          </a:xfrm>
        </p:spPr>
        <p:txBody>
          <a:bodyPr/>
          <a:lstStyle/>
          <a:p>
            <a:r>
              <a:rPr lang="en-US" sz="4400" dirty="0"/>
              <a:t>Importance/How it’s 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49D5B-4702-BB49-C5B9-CA8B0C64A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584" y="1919235"/>
            <a:ext cx="6119446" cy="3117968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Direct memory access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Widely used in critical systems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Secure software development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Security testing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99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D73B-9762-8A0A-6415-590D978E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1- Buffer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EBE16-9064-C68F-5DF5-505D55BB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587833"/>
            <a:ext cx="8228973" cy="3880773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One of the most common security concerns with C++</a:t>
            </a:r>
          </a:p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Ranked as </a:t>
            </a:r>
            <a:r>
              <a:rPr lang="en-US" sz="3000" dirty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 most dangerous software weakness </a:t>
            </a:r>
          </a:p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Caused by not having built-in boundary check features in C++</a:t>
            </a:r>
          </a:p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Writing outside our allocated memory can cause program crashes</a:t>
            </a:r>
          </a:p>
        </p:txBody>
      </p:sp>
    </p:spTree>
    <p:extLst>
      <p:ext uri="{BB962C8B-B14F-4D97-AF65-F5344CB8AC3E}">
        <p14:creationId xmlns:p14="http://schemas.microsoft.com/office/powerpoint/2010/main" val="65052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FB90DB36-69EA-7F73-119B-3C323271AF1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364" r="4364"/>
          <a:stretch/>
        </p:blipFill>
        <p:spPr>
          <a:xfrm>
            <a:off x="1126309" y="1207960"/>
            <a:ext cx="9941259" cy="443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0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56EC43-3D5B-9EBD-ACDE-FCFA5CA4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Vulnerability</a:t>
            </a: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91339-4D3B-5C62-8282-1C2129512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55" y="2150651"/>
            <a:ext cx="8596668" cy="1074224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Vulnerable to a buffer overflow attack if the user enters a string longer than the length of the 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</a:rPr>
              <a:t>user_input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 array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58276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317-1410-E4AA-A4CA-C184DFEE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Prevention</a:t>
            </a:r>
            <a:r>
              <a:rPr lang="en-US" dirty="0"/>
              <a:t>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21F7-1681-633A-05FC-1DE2B29D0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386" y="1607882"/>
            <a:ext cx="8596668" cy="3880773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Use stack canaries to secure data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Data Execution Prevention (DEP)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Good coding practices: 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Bound Checking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Avoid standard library functions like </a:t>
            </a:r>
            <a:r>
              <a:rPr lang="en-US" sz="2600" dirty="0" err="1">
                <a:solidFill>
                  <a:schemeClr val="bg1">
                    <a:lumMod val="65000"/>
                  </a:schemeClr>
                </a:solidFill>
              </a:rPr>
              <a:t>strcpy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2600" dirty="0" err="1">
                <a:solidFill>
                  <a:schemeClr val="bg1">
                    <a:lumMod val="65000"/>
                  </a:schemeClr>
                </a:solidFill>
              </a:rPr>
              <a:t>scanf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2600" dirty="0" err="1">
                <a:solidFill>
                  <a:schemeClr val="bg1">
                    <a:lumMod val="65000"/>
                  </a:schemeClr>
                </a:solidFill>
              </a:rPr>
              <a:t>printf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, and get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Replace them with equivalent secure functions, like </a:t>
            </a:r>
            <a:r>
              <a:rPr lang="en-US" sz="2600" dirty="0" err="1">
                <a:solidFill>
                  <a:schemeClr val="bg1">
                    <a:lumMod val="65000"/>
                  </a:schemeClr>
                </a:solidFill>
              </a:rPr>
              <a:t>fgets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6615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7F55-19DD-946E-4E55-8FBDAACA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25" y="390939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2-  Integer Overflow and Underflow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449E9-7A8D-4A88-CCCD-296FA2D14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87" y="1421296"/>
            <a:ext cx="8596668" cy="3854753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Integer overflow is when the value we’re trying to store in an integer variable exceeds the maximum value an integer can hold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Integer underflow occurs when this value is less than the minimum value an integer can hold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 12th most dangerous software weakness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 Integer overflow and underflow can lead to a buffer overflow vulnerability</a:t>
            </a:r>
          </a:p>
        </p:txBody>
      </p:sp>
    </p:spTree>
    <p:extLst>
      <p:ext uri="{BB962C8B-B14F-4D97-AF65-F5344CB8AC3E}">
        <p14:creationId xmlns:p14="http://schemas.microsoft.com/office/powerpoint/2010/main" val="150196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46410-6D3D-4CB4-AB42-CCE136F7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09" y="1669774"/>
            <a:ext cx="9941259" cy="37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B5E9-6D00-212C-EE6B-A69D2333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D60C6-9899-3A6A-332B-E97110B4F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177" y="1693450"/>
            <a:ext cx="8596668" cy="3880773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This code represents an integer overflow vulnerability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 While the code checks for a zero value, it’s possible to have a zero-memory allocation if the input </a:t>
            </a:r>
            <a:r>
              <a:rPr lang="en-US" sz="2600" dirty="0" err="1">
                <a:solidFill>
                  <a:schemeClr val="bg1">
                    <a:lumMod val="65000"/>
                  </a:schemeClr>
                </a:solidFill>
              </a:rPr>
              <a:t>nresp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 equals 1073741824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Multiplying this value with four (size of char pointer) causes the variable to overflow, and </a:t>
            </a:r>
            <a:r>
              <a:rPr lang="en-US" sz="2600" dirty="0" err="1">
                <a:solidFill>
                  <a:schemeClr val="bg1">
                    <a:lumMod val="65000"/>
                  </a:schemeClr>
                </a:solidFill>
              </a:rPr>
              <a:t>xmalloc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600" dirty="0" err="1">
                <a:solidFill>
                  <a:schemeClr val="bg1">
                    <a:lumMod val="65000"/>
                  </a:schemeClr>
                </a:solidFill>
              </a:rPr>
              <a:t>nresp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en-US" sz="2600" dirty="0" err="1">
                <a:solidFill>
                  <a:schemeClr val="bg1">
                    <a:lumMod val="65000"/>
                  </a:schemeClr>
                </a:solidFill>
              </a:rPr>
              <a:t>sizeof</a:t>
            </a:r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(char*)) allocates a buffer of size 0</a:t>
            </a:r>
          </a:p>
        </p:txBody>
      </p:sp>
    </p:spTree>
    <p:extLst>
      <p:ext uri="{BB962C8B-B14F-4D97-AF65-F5344CB8AC3E}">
        <p14:creationId xmlns:p14="http://schemas.microsoft.com/office/powerpoint/2010/main" val="4044780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80F5-6DBE-EA65-19E8-F72852476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Prevention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08C4A-8D24-EE4F-614C-B99CAAAB0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 Range Checking to protect against overflow or wrapping of the variable value</a:t>
            </a:r>
          </a:p>
        </p:txBody>
      </p:sp>
    </p:spTree>
    <p:extLst>
      <p:ext uri="{BB962C8B-B14F-4D97-AF65-F5344CB8AC3E}">
        <p14:creationId xmlns:p14="http://schemas.microsoft.com/office/powerpoint/2010/main" val="195761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8763-499C-3037-2BEB-592323C5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25" y="352772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dirty="0"/>
              <a:t>3- Pointer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BC316-31AA-008D-C100-E120AEAB9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152" y="1276006"/>
            <a:ext cx="8596668" cy="388077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We can expose a lot of data using a pointer that’s not initialized as a pointer to a memory location or function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If the uninitialized pointer points to a memory location: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Cause the program to read or write to an unexpected memory location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If it points to a function, it can cause the unintentional execution of an arbitrary function </a:t>
            </a:r>
          </a:p>
          <a:p>
            <a:pPr marL="457200" indent="-400050"/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Pointers are also vulnerable to null pointer dereferencing attacks, which can lead to program reliability issues</a:t>
            </a:r>
          </a:p>
          <a:p>
            <a:pPr marL="457200" indent="-400050"/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An attacker can take advantage of this by enforcing a null pointer dereference: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Can bypass some security checks or reveal debugging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432976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B0B6BE-87C4-B0D8-838C-0DF736B26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46" y="1820356"/>
            <a:ext cx="9941259" cy="284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54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8EB3-EBB6-7CD2-EE3F-B4EFC082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73CDB-4CCE-CCDE-D0F7-13C188B17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751" y="1781313"/>
            <a:ext cx="8596668" cy="2679768"/>
          </a:xfrm>
        </p:spPr>
        <p:txBody>
          <a:bodyPr/>
          <a:lstStyle/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As we can see, the pointer is left uninitialized, which means that a random value is assigned to it, and the check will pass, as it may be a non-null value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456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D6F7-1E96-8856-C723-B55E1B10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38" y="501859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dirty="0"/>
              <a:t>Prevention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56EA4-0D4B-2CA0-2532-66C9D92C1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312" y="2016040"/>
            <a:ext cx="8596668" cy="1681317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Avoid using a Pointer and use references instead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Use smart pointers instead of raw pointers, if you really have to</a:t>
            </a:r>
          </a:p>
        </p:txBody>
      </p:sp>
    </p:spTree>
    <p:extLst>
      <p:ext uri="{BB962C8B-B14F-4D97-AF65-F5344CB8AC3E}">
        <p14:creationId xmlns:p14="http://schemas.microsoft.com/office/powerpoint/2010/main" val="2269297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A8EB-435D-7C73-D835-7188D8EA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Key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783E-8264-7864-2767-3A9923CA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489" y="1816460"/>
            <a:ext cx="8596668" cy="3880773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 C++ has a variety of vulnerabilities 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Developers must be aware of when writing code</a:t>
            </a:r>
          </a:p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</a:rPr>
              <a:t>As developers, it’s our responsibility to implement security techniques</a:t>
            </a:r>
          </a:p>
        </p:txBody>
      </p:sp>
    </p:spTree>
    <p:extLst>
      <p:ext uri="{BB962C8B-B14F-4D97-AF65-F5344CB8AC3E}">
        <p14:creationId xmlns:p14="http://schemas.microsoft.com/office/powerpoint/2010/main" val="354562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0DD4-41F0-2624-1755-EF1F5673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Check It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D024E-59A2-A4EF-66D6-FDEA8CE33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0" y="1832598"/>
            <a:ext cx="8596668" cy="3880773"/>
          </a:xfrm>
          <a:noFill/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bg1">
                    <a:lumMod val="65000"/>
                  </a:schemeClr>
                </a:solidFill>
                <a:hlinkClick r:id="rId2"/>
              </a:rPr>
              <a:t>https://github.com/raamishkhan99/cpp-security-risks.git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1982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21774</TotalTime>
  <Words>481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Trebuchet MS</vt:lpstr>
      <vt:lpstr>Wingdings</vt:lpstr>
      <vt:lpstr>Wingdings 3</vt:lpstr>
      <vt:lpstr>Facet</vt:lpstr>
      <vt:lpstr>3 SECURITY RISKS OF C++</vt:lpstr>
      <vt:lpstr>Importance/How it’s  Used</vt:lpstr>
      <vt:lpstr>1- Buffer Overflow</vt:lpstr>
      <vt:lpstr>PowerPoint Presentation</vt:lpstr>
      <vt:lpstr>Vulnerability </vt:lpstr>
      <vt:lpstr>Prevention Techniques</vt:lpstr>
      <vt:lpstr>2-  Integer Overflow and Underflow</vt:lpstr>
      <vt:lpstr>PowerPoint Presentation</vt:lpstr>
      <vt:lpstr>Vulnerability</vt:lpstr>
      <vt:lpstr>Prevention Techniques</vt:lpstr>
      <vt:lpstr>3- Pointer Initialization</vt:lpstr>
      <vt:lpstr>PowerPoint Presentation</vt:lpstr>
      <vt:lpstr>Vulnerability</vt:lpstr>
      <vt:lpstr>Prevention Techniques</vt:lpstr>
      <vt:lpstr>Key Notes</vt:lpstr>
      <vt:lpstr>Check It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Raamish Khan</dc:creator>
  <cp:lastModifiedBy>Raamish Khan</cp:lastModifiedBy>
  <cp:revision>22</cp:revision>
  <dcterms:created xsi:type="dcterms:W3CDTF">2026-03-12T20:52:48Z</dcterms:created>
  <dcterms:modified xsi:type="dcterms:W3CDTF">2026-04-13T05:12:10Z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54ab11a-fc70-4981-8bc8-76001c0acfb8_Enabled">
    <vt:lpwstr>true</vt:lpwstr>
  </property>
  <property fmtid="{D5CDD505-2E9C-101B-9397-08002B2CF9AE}" pid="3" name="MSIP_Label_254ab11a-fc70-4981-8bc8-76001c0acfb8_SetDate">
    <vt:lpwstr>2026-03-12T21:59:04Z</vt:lpwstr>
  </property>
  <property fmtid="{D5CDD505-2E9C-101B-9397-08002B2CF9AE}" pid="4" name="MSIP_Label_254ab11a-fc70-4981-8bc8-76001c0acfb8_Method">
    <vt:lpwstr>Standard</vt:lpwstr>
  </property>
  <property fmtid="{D5CDD505-2E9C-101B-9397-08002B2CF9AE}" pid="5" name="MSIP_Label_254ab11a-fc70-4981-8bc8-76001c0acfb8_Name">
    <vt:lpwstr>General</vt:lpwstr>
  </property>
  <property fmtid="{D5CDD505-2E9C-101B-9397-08002B2CF9AE}" pid="6" name="MSIP_Label_254ab11a-fc70-4981-8bc8-76001c0acfb8_SiteId">
    <vt:lpwstr>eb5d9dc4-93c6-4557-8c23-90ef7fa05b96</vt:lpwstr>
  </property>
  <property fmtid="{D5CDD505-2E9C-101B-9397-08002B2CF9AE}" pid="7" name="MSIP_Label_254ab11a-fc70-4981-8bc8-76001c0acfb8_ActionId">
    <vt:lpwstr>0fa805f9-92fa-4828-8274-c2dc3ed5f427</vt:lpwstr>
  </property>
  <property fmtid="{D5CDD505-2E9C-101B-9397-08002B2CF9AE}" pid="8" name="MSIP_Label_254ab11a-fc70-4981-8bc8-76001c0acfb8_ContentBits">
    <vt:lpwstr>0</vt:lpwstr>
  </property>
  <property fmtid="{D5CDD505-2E9C-101B-9397-08002B2CF9AE}" pid="9" name="MSIP_Label_254ab11a-fc70-4981-8bc8-76001c0acfb8_Tag">
    <vt:lpwstr>10, 3, 0, 1</vt:lpwstr>
  </property>
</Properties>
</file>